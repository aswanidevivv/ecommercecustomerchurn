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86" r:id="rId5"/>
    <p:sldId id="285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304" r:id="rId21"/>
    <p:sldId id="305" r:id="rId22"/>
    <p:sldId id="306" r:id="rId23"/>
    <p:sldId id="307" r:id="rId24"/>
    <p:sldId id="303" r:id="rId25"/>
    <p:sldId id="302" r:id="rId26"/>
    <p:sldId id="301" r:id="rId27"/>
    <p:sldId id="300" r:id="rId28"/>
    <p:sldId id="299" r:id="rId29"/>
    <p:sldId id="298" r:id="rId30"/>
    <p:sldId id="297" r:id="rId31"/>
    <p:sldId id="296" r:id="rId32"/>
    <p:sldId id="295" r:id="rId33"/>
    <p:sldId id="308" r:id="rId34"/>
    <p:sldId id="293" r:id="rId35"/>
    <p:sldId id="309" r:id="rId36"/>
    <p:sldId id="284" r:id="rId37"/>
    <p:sldId id="310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B2FFE4-42AD-45CA-BC75-8A1088E7938C}">
          <p14:sldIdLst>
            <p14:sldId id="256"/>
            <p14:sldId id="257"/>
            <p14:sldId id="258"/>
            <p14:sldId id="286"/>
            <p14:sldId id="285"/>
            <p14:sldId id="259"/>
            <p14:sldId id="260"/>
            <p14:sldId id="261"/>
            <p14:sldId id="262"/>
            <p14:sldId id="263"/>
            <p14:sldId id="264"/>
            <p14:sldId id="265"/>
            <p14:sldId id="267"/>
            <p14:sldId id="268"/>
            <p14:sldId id="269"/>
            <p14:sldId id="271"/>
            <p14:sldId id="272"/>
            <p14:sldId id="273"/>
            <p14:sldId id="274"/>
            <p14:sldId id="304"/>
            <p14:sldId id="305"/>
            <p14:sldId id="306"/>
            <p14:sldId id="307"/>
            <p14:sldId id="303"/>
            <p14:sldId id="302"/>
            <p14:sldId id="301"/>
            <p14:sldId id="300"/>
            <p14:sldId id="299"/>
            <p14:sldId id="298"/>
            <p14:sldId id="297"/>
            <p14:sldId id="296"/>
            <p14:sldId id="295"/>
            <p14:sldId id="308"/>
            <p14:sldId id="293"/>
            <p14:sldId id="309"/>
            <p14:sldId id="284"/>
            <p14:sldId id="3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F3D12-AEED-47E1-A076-B1F65317A54F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E5597-B135-4B18-B4B7-AF0ED5E9D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11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E5597-B135-4B18-B4B7-AF0ED5E9D91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619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7C283-229B-4C35-4BD3-1C614B5342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E-Commerce Customer Churn Analysis</a:t>
            </a:r>
          </a:p>
        </p:txBody>
      </p:sp>
    </p:spTree>
    <p:extLst>
      <p:ext uri="{BB962C8B-B14F-4D97-AF65-F5344CB8AC3E}">
        <p14:creationId xmlns:p14="http://schemas.microsoft.com/office/powerpoint/2010/main" val="1952236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A6FC3-092F-0784-2624-54C5AA858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16310"/>
            <a:ext cx="9613861" cy="1617856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45889-ECFD-741F-1B6C-5E86560EF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purpose of this project is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behaviour and understand why some customers leave an e-commerce business.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is an important business problem because losing existing customers can reduce repeat purchases, revenue and customer lifetime value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I have performed data loading, data inspection, data cleaning, filtering, aggregation and exploratory data analysis.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50,000 customer records and 25 columns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final analysis focuses particularly on identifying differences between churned and retained customers.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247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5847-A21A-2C16-7596-580C0ED67AC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61883" y="2081161"/>
            <a:ext cx="9613900" cy="3598863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business problem addressed in this project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means that a customer stops purchasing or becomes inactive with the business.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not just to find how many customers churned, but also to understand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characteristics and behaviours are associated with churn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685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626D4-A10C-F32E-7398-970525AC1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Customer Churn Dataset — Column Meaning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32EE2-4044-801B-0F19-226078811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8D31C8B-4E7F-5BB3-1723-B2B8BC254ED9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55B483-CEB2-E69C-DF0B-5A21621395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292311"/>
              </p:ext>
            </p:extLst>
          </p:nvPr>
        </p:nvGraphicFramePr>
        <p:xfrm>
          <a:off x="334296" y="1896228"/>
          <a:ext cx="11580336" cy="4596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6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3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286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Column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28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Age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Age of the customer.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28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Gender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Gender of the customer.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28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Country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Country where the customer is located.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28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City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City where the customer is located.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28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Membership_Years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Number of years the customer has been a member.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28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Login_Frequency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How frequently the customer logs into the e-commerce platform.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28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Session_Duration_Avg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Average amount of time the customer spends during a session.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28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Pages_Per_Session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Average number of pages the customer views during one session.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828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Cart_Abandonment_Rate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Percentage/rate of carts added to but not converted into purchases.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828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Wishlist_Items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Number of products saved to the customer's wishlist.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828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Total_Purchases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Total number of purchases made by the customer.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828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Average_Order_Value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Average amount of money spent per order.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829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Days_Since_Last_Purchase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dirty="0"/>
                        <a:t>Number of days since the customer's most recent purchase.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281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D9DDD71-71BC-3EF3-4468-18016C34C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38" y="599120"/>
            <a:ext cx="7942561" cy="975831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Customer Churn Dataset — Column Meaning</a:t>
            </a:r>
            <a:endParaRPr sz="28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0BA5A72-75FC-70E7-2975-3D487AC67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F229C6F-6B79-A31D-2FCE-B71624792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664245"/>
              </p:ext>
            </p:extLst>
          </p:nvPr>
        </p:nvGraphicFramePr>
        <p:xfrm>
          <a:off x="680321" y="2143432"/>
          <a:ext cx="11234310" cy="4434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8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0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303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Column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62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14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Discount_Usage_Rate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dirty="0"/>
                        <a:t>Rate at which the customer uses discounts or promotional offers.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62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 err="1"/>
                        <a:t>Returns_Rate</a:t>
                      </a:r>
                      <a:endParaRPr dirty="0"/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Rate/percentage of purchases that the customer returns.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62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 err="1"/>
                        <a:t>Email_Open_Rate</a:t>
                      </a:r>
                      <a:endParaRPr dirty="0"/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Percentage/rate of marketing emails opened by the customer.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62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17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Customer_Service_Calls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Number of times the customer contacted customer service.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62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Product_Reviews_Written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Number of product reviews written by the customer.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62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Social_Media_Engagement_Score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Score representing engagement with the business on social media.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62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Mobile_App_Usage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Measure of how much the customer uses the mobile application.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662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Payment_Method_Diversity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Number/diversity of different payment methods used.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62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Lifetime_Value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Estimated total value/revenue generated by the customer.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62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Credit_Balance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Credit balance associated with the customer.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662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24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Churned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t>Whether the customer left the business: 0 = No, 1 = Yes.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63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Signup_Quarter</a:t>
                      </a:r>
                    </a:p>
                  </a:txBody>
                  <a:tcPr marL="45720" marR="45720" marT="18288" marB="18288"/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dirty="0"/>
                        <a:t>Quarter in which the customer signed up, such as Q1, Q2, Q3, or Q4.</a:t>
                      </a:r>
                    </a:p>
                  </a:txBody>
                  <a:tcPr marL="45720" marR="45720" marT="18288" marB="18288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5816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6B5E8-2CBF-4CEC-7570-FFB591DFC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4FB10-5DC4-A92A-E3B3-581195CBC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0470F-2EC4-E754-F12C-26218EDDC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 : Kaggle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50,000 rows and 25 columns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row represents customer-level information.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variables can be divided into several important categories.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 variables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Age, Gender, Country and City.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are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variables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Login Frequency, Session Duration and Pages Per Session.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are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purchasing variables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Total Purchases, Average Order Value and Days Since Last Purchase.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176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C5EB9-608F-29FD-5074-9A74C4E1F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5F7FB-52BE-5D09-39C6-E2D660C7E2A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34065" y="2120490"/>
            <a:ext cx="9613900" cy="3598863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also have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customer-experience variables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Cart Abandonment Rate, Returns Rate and Customer Service Calls.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Marketing-related variables include Email Open Rate, Discount Usage Rate and Social Media Engagement Score.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Lifetime Value and Credit Balance provide information about customer value.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important target variable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707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44FC0-10C3-1A9E-94A2-A3E991268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2CECF-131E-18E6-3914-6A3CD7D85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&amp;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7FB8C-239E-D4C1-727D-2D7239471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045110"/>
            <a:ext cx="9613861" cy="4227871"/>
          </a:xfrm>
        </p:spPr>
        <p:txBody>
          <a:bodyPr>
            <a:normAutofit fontScale="850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performing analysis, it is important to check whether the data is clean and reliable.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used several techniques for initial inspection, including:</a:t>
            </a:r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head() </a:t>
            </a:r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info() </a:t>
            </a:r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describe() </a:t>
            </a:r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shape </a:t>
            </a:r>
          </a:p>
          <a:p>
            <a:pPr marL="0" lv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dtypes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 inspection identified missing values in several columns.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missing values were present in Age, Session Duration, Pages Per Session, Wishlist Items, Days Since Last Purchase, Returns Rate, Social Media Engagement and other variables.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handled numerical missing values mainly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imputation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49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2672B-32A4-20DA-04D7-03C46D38E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A15FA-5604-65F7-595D-7C79A2326EB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57084" y="1805858"/>
            <a:ext cx="9613900" cy="3598863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was selected because it is less affected by extreme values than the mean.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also checked for invalid values.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Age should reasonably fall between 18 and 100. Values outside this range were converted to missing values and then replaced with the median.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Similarly, Total Purchases cannot logically be negative, so negative values were treated as invalid.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variables such as Discount Usage Rate, Returns Rate and Email Open Rate were checked against a 0–100 range.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 were also checked, and the project found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duplicate records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750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F3480-6BFD-6B41-7D2E-B87E953FE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52D48-74DF-598F-B7CA-6E091D2A2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968E7-8383-B523-9D60-FFC4BAB91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cleaning the dataset, I created some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columns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column means creating new column from existing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columnto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analysis easier and more meaningful.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derived column is 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Age_Group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Customers were divided into:</a:t>
            </a:r>
          </a:p>
          <a:p>
            <a:pPr marL="0" lv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1.Young Adult </a:t>
            </a:r>
          </a:p>
          <a:p>
            <a:pPr marL="0" lv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2.Middle-Aged Adult </a:t>
            </a:r>
          </a:p>
          <a:p>
            <a:pPr marL="0" lv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3.Older Adult </a:t>
            </a:r>
          </a:p>
          <a:p>
            <a:pPr marL="0" lv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4.Elderly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 ranges were created using the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pd.cut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function. 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247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63270-1C98-9535-C84B-BDCF1E8A2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4B284-5E04-3BB4-E528-94CE60B957C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19432" y="2061497"/>
            <a:ext cx="9613900" cy="3598863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derived column is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Customer_Activity_Status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was created using Days Since Last Purchase.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Customers were classified as:</a:t>
            </a:r>
          </a:p>
          <a:p>
            <a:pPr marL="0" lv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Active – 0 to 30 days </a:t>
            </a:r>
          </a:p>
          <a:p>
            <a:pPr marL="0" lv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At Risk – 31 to 90 days </a:t>
            </a:r>
          </a:p>
          <a:p>
            <a:pPr marL="0" lv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Inactive – 91 to 180 days </a:t>
            </a:r>
          </a:p>
          <a:p>
            <a:pPr marL="0" lv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Dormant – more than 180 days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useful because it converts a numerical value into a business-friendly customer segment.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50051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0A66F-062D-9735-A4C8-6E9E626CB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96B8E-7873-81E3-5D7A-8122399C071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5909" y="2179483"/>
            <a:ext cx="9613900" cy="3598863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third derived column is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Purchase_Value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It is calculated as: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Purchase_Value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Total_Purchases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Average_Order_Value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gives an approximate measure of the customer's purchase contribution.</a:t>
            </a:r>
          </a:p>
        </p:txBody>
      </p:sp>
    </p:spTree>
    <p:extLst>
      <p:ext uri="{BB962C8B-B14F-4D97-AF65-F5344CB8AC3E}">
        <p14:creationId xmlns:p14="http://schemas.microsoft.com/office/powerpoint/2010/main" val="417730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6CA33-65F0-A463-0B65-CF8A5A086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7556A-379D-F2F4-D5EF-FA5C59C96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dataset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54A08-A1A4-72B9-27B6-D88812CF7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is used to focus on particular customer groups.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 created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churned customer dataset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selecting customers where Churned == 1.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also created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high-value customer segment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Lifetime Value is greater than the median Lifetime Value.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segment was created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inactive customers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Days Since Last Purchase is greater than 180.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also filtered customers with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cart abandonment rate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specifically greater than 75.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filters help us understand specific groups instead of looking only at the complete dataset.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62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9C0D1-D554-6E23-463A-BFFBBD9E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174BE-4EF5-420C-1795-611FC96E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77D44-0E2A-8DE5-3002-02C58A465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 was also performed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groupby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 grouped customers by Churned status and calculated average Age, Total Purchases, Average Order Value, Days Since Last Purchase, Lifetime Value and Cart Abandonment Rate.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also created a country-level summary using customer count, churn rate, average lifetime value and average purchases.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025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1AB3A-82C6-73E8-907C-39887B3C0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0E0A5-84B1-4E0A-2E2E-C6BF8DBE3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Main target variable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89A8-2A0C-1C91-DBAC-DF22E08D0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1956620"/>
            <a:ext cx="9613861" cy="4689986"/>
          </a:xfrm>
        </p:spPr>
        <p:txBody>
          <a:bodyPr>
            <a:normAutofit fontScale="92500" lnSpcReduction="10000"/>
          </a:bodyPr>
          <a:lstStyle/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we come to the main target variable, which is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Churned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There are two categories: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0 – Retained customer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1 – Churned customer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contains:</a:t>
            </a:r>
          </a:p>
          <a:p>
            <a:pPr marL="0" lv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35,550 retained customers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14,450 churned customers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overall churn rate is: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28.9%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approximately 29 out of every 100 customers in the dataset are classified as churned.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significant enough to justify a customer-retention strategy.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we come to the main target variable, which is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347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0F861-E354-BD97-B4EE-F0922FDBE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AD8EE7-92BF-A407-B70D-44BFE0C85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Rate by Gender &amp; Churn Rate by Country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1B6C5-20EC-991E-A231-2280A5BF5C2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40774" y="2375873"/>
            <a:ext cx="9613900" cy="3598862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Next, I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whether churn differs across demographic and geographic groups.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was one of the demographic variables.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churn rates were approximately:</a:t>
            </a:r>
          </a:p>
          <a:p>
            <a:pPr marL="0" lv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Other –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31.27%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Female –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28.97%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Male –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28.73%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differences between genders are relatively small.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Country-level analysis was also performed.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204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1EE3F-DE46-7349-869F-755B2CAA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E4CA5-3EB7-CDF7-F1CA-C29B9F70D2F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7419" y="1884516"/>
            <a:ext cx="9613900" cy="3598863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Australia had an observed churn rate of approximately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29.89%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France had approximately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27.29%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tells us that geography has some variation, but the differences are not extremely large.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demographic and geographic variables are useful for segmentation, but behavioural variables may provide stronger and more actionable churn signals.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135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241DB-EBF0-6C57-C015-766A9C4D5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E02FE-4B45-8676-6035-16DEA47AC2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 in E-Commerce Customer Churn Analysis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046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E71EE-3CD7-7259-EF3C-9B172B141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5D1EE-3406-C4F3-10DC-50794B4ED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1.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 - Customer Gender Distribution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F5C06-01EC-4107-E866-27A430839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 Pie chart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Variable: Gender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Shows the percentage composition of customers by Female, Male and Other.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type: Univariate categorical analysis.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use: Helps understand the demographic composition of the customer base.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146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5B508-D72F-352F-0618-246CB9341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BB97A-9048-5750-50CB-E7F5D4433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Plot- Customer Churn Distribution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F99C4-CC2F-54DA-1747-E8C4B68E2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 Count plot</a:t>
            </a:r>
          </a:p>
          <a:p>
            <a:pPr>
              <a:defRPr sz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Variables: Churned / Not Churned</a:t>
            </a:r>
          </a:p>
          <a:p>
            <a:pPr>
              <a:defRPr sz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 35,550 customers are not churned and 14,450 customers are churned.</a:t>
            </a:r>
          </a:p>
          <a:p>
            <a:pPr>
              <a:defRPr sz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churn rate: 28.9%.</a:t>
            </a:r>
          </a:p>
          <a:p>
            <a:pPr>
              <a:defRPr sz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meaning: Nearly 3 out of 10 customers have churned, making retention an important business issue.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980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BF7CA-A35C-11D2-21C7-258D906C1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B175F-CAB7-47A8-D8C5-99828F4C8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Histogram - Customer Age Distribution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95253-678D-715B-98FD-0473F4539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 Histogram with KDE curve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Variable: Age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Shows how customers are distributed across age ranges.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age is approximately 37.8 years and median age is 38 years.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use: Helps identify the major customer age segments.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47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23C33-F0A8-F53C-661C-45DA36BFB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1C679-EC77-A1B6-32E6-9D9107BB0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Bar Chart - Churn Rate by Gender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C1217-7D15-0C03-2343-15564B805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 Bar chart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X-axis: Gender | Y-axis: Churn Rate (%)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Compares the percentage of churned customers within each gender.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distinction: This measures churn rate, not the number of customers.</a:t>
            </a:r>
          </a:p>
          <a:p>
            <a:pPr>
              <a:defRPr sz="2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use: Helps identify gender segments with relatively higher churn</a:t>
            </a:r>
          </a:p>
          <a:p>
            <a:pPr>
              <a:defRPr sz="2000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2C5ACB-60F7-3380-C81B-0430985DA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522896"/>
              </p:ext>
            </p:extLst>
          </p:nvPr>
        </p:nvGraphicFramePr>
        <p:xfrm>
          <a:off x="1525024" y="3964985"/>
          <a:ext cx="4806950" cy="1219200"/>
        </p:xfrm>
        <a:graphic>
          <a:graphicData uri="http://schemas.openxmlformats.org/drawingml/2006/table">
            <a:tbl>
              <a:tblPr/>
              <a:tblGrid>
                <a:gridCol w="2403475">
                  <a:extLst>
                    <a:ext uri="{9D8B030D-6E8A-4147-A177-3AD203B41FA5}">
                      <a16:colId xmlns:a16="http://schemas.microsoft.com/office/drawing/2014/main" val="1450400191"/>
                    </a:ext>
                  </a:extLst>
                </a:gridCol>
                <a:gridCol w="2403475">
                  <a:extLst>
                    <a:ext uri="{9D8B030D-6E8A-4147-A177-3AD203B41FA5}">
                      <a16:colId xmlns:a16="http://schemas.microsoft.com/office/drawing/2014/main" val="11655640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400" b="1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</a:t>
                      </a:r>
                      <a:endParaRPr lang="en-IN" sz="1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Churn Rate (%)</a:t>
                      </a:r>
                      <a:endParaRPr lang="en-IN" sz="14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186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400" b="1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400" b="0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40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400" b="1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400" b="0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758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4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400" b="0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812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5796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F759F-37C0-00B8-DF55-D2F0F7DD3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3709-BA4D-DE1A-C036-12D390D85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Horizontal Bar Chart - Churn Rate by Country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5413A-323C-66A6-623B-DA417DC20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831" y="2435196"/>
            <a:ext cx="9613861" cy="3599316"/>
          </a:xfrm>
        </p:spPr>
        <p:txBody>
          <a:bodyPr>
            <a:normAutofit fontScale="92500" lnSpcReduction="10000"/>
          </a:bodyPr>
          <a:lstStyle/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 Horizontal bar chart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X-axis: Churn Rate (%) | Y-axis: Country</a:t>
            </a:r>
          </a:p>
          <a:p>
            <a:pPr>
              <a:defRPr sz="2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use: Identifies geographical differences in customer churn.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F396A3-847F-9F00-A015-591A777263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063131"/>
              </p:ext>
            </p:extLst>
          </p:nvPr>
        </p:nvGraphicFramePr>
        <p:xfrm>
          <a:off x="934064" y="3156752"/>
          <a:ext cx="6135330" cy="2468880"/>
        </p:xfrm>
        <a:graphic>
          <a:graphicData uri="http://schemas.openxmlformats.org/drawingml/2006/table">
            <a:tbl>
              <a:tblPr/>
              <a:tblGrid>
                <a:gridCol w="3067665">
                  <a:extLst>
                    <a:ext uri="{9D8B030D-6E8A-4147-A177-3AD203B41FA5}">
                      <a16:colId xmlns:a16="http://schemas.microsoft.com/office/drawing/2014/main" val="3175810673"/>
                    </a:ext>
                  </a:extLst>
                </a:gridCol>
                <a:gridCol w="3067665">
                  <a:extLst>
                    <a:ext uri="{9D8B030D-6E8A-4147-A177-3AD203B41FA5}">
                      <a16:colId xmlns:a16="http://schemas.microsoft.com/office/drawing/2014/main" val="2968303109"/>
                    </a:ext>
                  </a:extLst>
                </a:gridCol>
              </a:tblGrid>
              <a:tr h="23453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Churn Rate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495000"/>
                  </a:ext>
                </a:extLst>
              </a:tr>
              <a:tr h="23453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Australia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0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359023"/>
                  </a:ext>
                </a:extLst>
              </a:tr>
              <a:tr h="23453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0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428789"/>
                  </a:ext>
                </a:extLst>
              </a:tr>
              <a:tr h="23453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0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498619"/>
                  </a:ext>
                </a:extLst>
              </a:tr>
              <a:tr h="23453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0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283269"/>
                  </a:ext>
                </a:extLst>
              </a:tr>
              <a:tr h="23453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Germany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0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144140"/>
                  </a:ext>
                </a:extLst>
              </a:tr>
              <a:tr h="23453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0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620924"/>
                  </a:ext>
                </a:extLst>
              </a:tr>
              <a:tr h="23453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Japan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0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413991"/>
                  </a:ext>
                </a:extLst>
              </a:tr>
              <a:tr h="23453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0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922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317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A6579-EF85-C3B2-8AE9-67C9C4E04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20414-AD6E-A7B1-A3E9-E4983044C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Bar Chart -  Churn Rate by Signup Quarter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12B75-FF85-91FC-54B9-247734ED5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 Bar chart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Categories: Q1, Q2, Q3 and Q4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Compares churn rates based on the quarter in which customers signed up.</a:t>
            </a:r>
          </a:p>
          <a:p>
            <a:pPr>
              <a:defRPr sz="2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use: Helps investigate seasonal signup patterns and onboarding differences.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F52EC-9762-52DC-2781-37C8B76D2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276682"/>
              </p:ext>
            </p:extLst>
          </p:nvPr>
        </p:nvGraphicFramePr>
        <p:xfrm>
          <a:off x="875070" y="3654143"/>
          <a:ext cx="6941576" cy="1783095"/>
        </p:xfrm>
        <a:graphic>
          <a:graphicData uri="http://schemas.openxmlformats.org/drawingml/2006/table">
            <a:tbl>
              <a:tblPr/>
              <a:tblGrid>
                <a:gridCol w="3470788">
                  <a:extLst>
                    <a:ext uri="{9D8B030D-6E8A-4147-A177-3AD203B41FA5}">
                      <a16:colId xmlns:a16="http://schemas.microsoft.com/office/drawing/2014/main" val="1026136496"/>
                    </a:ext>
                  </a:extLst>
                </a:gridCol>
                <a:gridCol w="3470788">
                  <a:extLst>
                    <a:ext uri="{9D8B030D-6E8A-4147-A177-3AD203B41FA5}">
                      <a16:colId xmlns:a16="http://schemas.microsoft.com/office/drawing/2014/main" val="241362970"/>
                    </a:ext>
                  </a:extLst>
                </a:gridCol>
              </a:tblGrid>
              <a:tr h="356619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1" i="0" dirty="0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Signup_Quarter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Churn rate (%)</a:t>
                      </a:r>
                      <a:endParaRPr lang="en-IN" sz="1200" b="1" i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399203"/>
                  </a:ext>
                </a:extLst>
              </a:tr>
              <a:tr h="356619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1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0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611341"/>
                  </a:ext>
                </a:extLst>
              </a:tr>
              <a:tr h="356619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0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628349"/>
                  </a:ext>
                </a:extLst>
              </a:tr>
              <a:tr h="356619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0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889581"/>
                  </a:ext>
                </a:extLst>
              </a:tr>
              <a:tr h="356619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IN" sz="1200" b="0" i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749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8996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E980C-450E-5271-9C22-2D92238F7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65A8E-DDD5-6E82-5786-F529FF88E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Bar Chart - Churn Rate by Age Group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84A29-4190-3F40-60A9-E9F5F67F4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 Bar chart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groups: Young Adult, Middle-Aged Adult, Older Adult and Elderly.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Compares churn rates across meaningful age segments.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use: Helps identify age groups that may require targeted retention strategies.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47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47A99-E9F3-F254-9133-CACF1852F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C406D-39D2-40EA-B751-3B5B6429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Box Plot  - Purchase Recency by Churn Status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F2FC5-AC20-5959-CBC7-AAD22DE5A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 Box plot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X-axis: Churn Status | Y-axis: Days Since Last Purchase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days since last purchase: Retained ≈ 26.54 days; Churned ≈ 35.97 days.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 Churned customers have gone longer without purchasing on average.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use: Recent purchase inactivity can be used as a churn-risk signal.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8660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673EE-D808-3EDB-BEDC-F3DFC6511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9ADF-1A49-A534-DB4D-0925FEA5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Box Plot - Membership Duration by Churn Status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6DCC7-67D2-7631-7CDC-B5CA40E92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 Box plot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X-axis: Customer Status | Y-axis: Membership Years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Compares membership-duration distributions between churned and retained customers.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use: Helps investigate whether customer tenure is associated with churn.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1434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F6406-F0DA-84FA-4478-C976FE8E0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35E0-4AD2-05C8-A7B9-14BBA21B2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Scatter Plot - Lifetime Value vs Average Order Value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25192-8850-BA18-D473-2E3593003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 Scatter plot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X-axis: Average Order Value | Y-axis: Lifetime Value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Color/group: Churned status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Examines the relationship between spending per order and customer lifetime value.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use: Helps identify spending patterns associated with churn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2795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E01B1-66B4-ECC9-851C-3565D4B2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7C549-0B08-E15B-060B-B96C08F11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-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Frequency vs Average Session Duration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26205-52B7-7D4A-128D-028F947EC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 Scatter plot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X-axis: Login Frequency | Y-axis: Average Session Duration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Color/group: Churned status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Examines customer engagement and its relationship with churn.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use: Low-engagement customers may be candidates for re-engagement campaigns.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774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7FE1D-ED95-4B56-0279-89A9C4156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6C650-BD82-1908-8474-D55819764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Line chart - Churn Rate by Customer Service Calls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DCAF8-72AF-203E-A2FB-22808CB02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 Line chart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X-axis: Number of Customer Service Calls | Y-axis: Churn Rate (%)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Examines how churn rate changes as customer service interactions increase.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Important: The graph shows association, not proof that service calls cause churn.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use: Helps identify customer-service-related churn patterns.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8904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2F2B9-7B99-4916-5426-ACF05AC6C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15B4F-C678-3E6B-5BD8-267C7484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Bar chart  - Churn Rate by Payment Method Diversity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FFF9E-3C0D-BCE1-C843-E8AB345C0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type: Bar chart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X-axis: Number of Payment Methods | Y-axis: Churn Rate (%)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Payment-method diversity ranges from 1 to 5 in the project.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Examines whether using different numbers of payment methods is associated with churn.</a:t>
            </a:r>
          </a:p>
          <a:p>
            <a:pPr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use: Can help evaluate payment convenience and retention opportunities.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25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87843-5963-167B-6FD5-77766B77C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467F9-48FC-073B-037F-AB930DE73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340" y="733564"/>
            <a:ext cx="9613861" cy="108093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6CEA3-0BFE-BEFB-5F5A-0E855ABDC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0" y="2259650"/>
            <a:ext cx="9613861" cy="35993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🔴 High-priority insights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Overall churn is 28.9%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significant portion of customers are being lost.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Churned customers purchase less frequently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11.25 vs 13.73 average purchases.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Churned customers have longer purchase gaps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35.97 vs 26.54 days.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Churned customers have higher cart abandonment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64.18% vs 54.19%.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🟠 Important supporting insights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Churned customers have higher average order value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134.76 vs 118.38.</a:t>
            </a:r>
          </a:p>
          <a:p>
            <a:pPr marL="0" lv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323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BBA77-5149-AE87-6B22-5C1071ED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9E6D0-3AFA-7D01-5A6A-9D78B7590FD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7419" y="1671484"/>
            <a:ext cx="9724102" cy="49032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Churned customers have slightly lower lifetime value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1,425.42 vs 1,446.81.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Gender differences are relatively small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Other has the highest churn, but male/female rates are close.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🟡 Lower-priority segmentation insights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Australia has the highest country churn rate.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Q2 has the highest signup-quarter churn rate.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Churned customers are slightly younger on average.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719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F98CA-1835-72AE-EF87-9837DDED6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76B26-F6D2-0A14-4F87-6E4F72B0D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Business Strategy</a:t>
            </a:r>
            <a:br>
              <a:rPr lang="en-IN" sz="2800" b="1" dirty="0"/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976D3-C3B3-A599-517F-14BABF6C5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Prevention Strategy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🟢 Active Customers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Loyalty rewards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Cross-selling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Membership benefits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🟡 At-Risk Customers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Reminder emails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offers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recommendations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Limited-time discounts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1826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D18EA-3BD8-B4A1-04DF-3341DAB8B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4102B-7FAE-A046-F565-6DF181F60E7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9600" y="1022555"/>
            <a:ext cx="9613900" cy="466730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🟠 Inactive Customers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Re-engagement campaigns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discounts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shipping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New-product notifications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🔴 Dormant Customers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Win-back campaign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personalized incentive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feedback survey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reactivation offer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⭐ High-Value At-Risk Customers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this group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priority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because losing a valuable customer can have a greater financial impact.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4691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5DCE1-272E-55A0-3FA2-84E47FCA5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7FCFAC-F64C-0AC9-B290-81BA1402D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422C8-0B43-5450-8EBC-8714807B328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257425"/>
            <a:ext cx="9613900" cy="3598863"/>
          </a:xfrm>
        </p:spPr>
        <p:txBody>
          <a:bodyPr>
            <a:norm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of 50,000 e-commerce customers reveals a 28.9% churn rate. Churned customers show lower purchase frequency, longer gaps since their last purchase, and higher cart abandonment rates compared with retained customers. Although churned customers have a higher average order value, their overall lifetime value is slightly lower, indicating that repeated engagement and purchase frequency are important for long-term customer retention. Demographic factors such as gender, country, age, and signup quarter show comparatively smaller differences. Therefore, the business should focus its churn-prevention strategy primarily 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indicators such as purchase recency, purchase frequency, cart abandonment, customer engagement, and high-value at-risk customers.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 the 4 strongest insights to highlight are: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28.9% churn → lower purchases → longer inactivity → higher cart abandonment.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6753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40BF2-6105-4204-7BFB-ECFA3377D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72B7C-F26A-8FF1-11DE-A54137760BD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68593" y="2258142"/>
            <a:ext cx="9613900" cy="35988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74107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8662</TotalTime>
  <Words>2608</Words>
  <Application>Microsoft Office PowerPoint</Application>
  <PresentationFormat>Widescreen</PresentationFormat>
  <Paragraphs>346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Times New Roman</vt:lpstr>
      <vt:lpstr>Trebuchet MS</vt:lpstr>
      <vt:lpstr>Berlin</vt:lpstr>
      <vt:lpstr>E-Commerce Customer Churn Analysis</vt:lpstr>
      <vt:lpstr>Objective of the Project</vt:lpstr>
      <vt:lpstr>PowerPoint Presentation</vt:lpstr>
      <vt:lpstr>E-Commerce Customer Churn Dataset — Column Meaning</vt:lpstr>
      <vt:lpstr>E-Commerce Customer Churn Dataset — Column Meaning</vt:lpstr>
      <vt:lpstr>Dataset Overview</vt:lpstr>
      <vt:lpstr>PowerPoint Presentation</vt:lpstr>
      <vt:lpstr>Data Quality &amp; Cleaning</vt:lpstr>
      <vt:lpstr>PowerPoint Presentation</vt:lpstr>
      <vt:lpstr>Derived columns</vt:lpstr>
      <vt:lpstr>PowerPoint Presentation</vt:lpstr>
      <vt:lpstr>PowerPoint Presentation</vt:lpstr>
      <vt:lpstr>Filtering dataset</vt:lpstr>
      <vt:lpstr>Aggregation</vt:lpstr>
      <vt:lpstr>Main target variable</vt:lpstr>
      <vt:lpstr>Churn Rate by Gender &amp; Churn Rate by Country</vt:lpstr>
      <vt:lpstr>PowerPoint Presentation</vt:lpstr>
      <vt:lpstr>Graphs in E-Commerce Customer Churn Analysis</vt:lpstr>
      <vt:lpstr>1. Pie Chart - Customer Gender Distribution</vt:lpstr>
      <vt:lpstr>2. Count Plot- Customer Churn Distribution </vt:lpstr>
      <vt:lpstr>3. Histogram - Customer Age Distribution</vt:lpstr>
      <vt:lpstr>4. Bar Chart - Churn Rate by Gender</vt:lpstr>
      <vt:lpstr>5. Horizontal Bar Chart - Churn Rate by Country</vt:lpstr>
      <vt:lpstr>6. Bar Chart -  Churn Rate by Signup Quarter</vt:lpstr>
      <vt:lpstr>7. Bar Chart - Churn Rate by Age Group</vt:lpstr>
      <vt:lpstr>8. Box Plot  - Purchase Recency by Churn Status</vt:lpstr>
      <vt:lpstr>9. Box Plot - Membership Duration by Churn Status</vt:lpstr>
      <vt:lpstr>10. Scatter Plot - Lifetime Value vs Average Order Value</vt:lpstr>
      <vt:lpstr>11. Scatter plot - Login Frequency vs Average Session Duration</vt:lpstr>
      <vt:lpstr>12. Line chart - Churn Rate by Customer Service Calls</vt:lpstr>
      <vt:lpstr>13. Bar chart  - Churn Rate by Payment Method Diversity</vt:lpstr>
      <vt:lpstr>Key Insights</vt:lpstr>
      <vt:lpstr>PowerPoint Presentation</vt:lpstr>
      <vt:lpstr>Recommended Business Strategy </vt:lpstr>
      <vt:lpstr>PowerPoint Presentation</vt:lpstr>
      <vt:lpstr>Final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9</cp:revision>
  <dcterms:created xsi:type="dcterms:W3CDTF">2026-08-12T17:29:59Z</dcterms:created>
  <dcterms:modified xsi:type="dcterms:W3CDTF">2026-08-31T18:00:31Z</dcterms:modified>
</cp:coreProperties>
</file>